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uT3MIBezvH11CMTxtgmGW6tVZ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357313" y="884430"/>
            <a:ext cx="6429375" cy="1645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PySpark ML: Iris Classification with Logistic Regression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357313" y="2744595"/>
            <a:ext cx="6429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1704"/>
              <a:buFont typeface="Calibri"/>
              <a:buNone/>
            </a:pPr>
            <a:r>
              <a:rPr b="0" i="0" lang="en-US" sz="170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A Hands-on Machine Learning Experiment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" name="Google Shape;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953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/>
          <p:nvPr/>
        </p:nvSpPr>
        <p:spPr>
          <a:xfrm>
            <a:off x="428625" y="285750"/>
            <a:ext cx="828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308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The Classic Iris Dataset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28625" y="835819"/>
            <a:ext cx="828675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A Foundation for Classification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28625" y="1335881"/>
            <a:ext cx="403621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431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1090"/>
              <a:buFont typeface="Calibri"/>
              <a:buNone/>
            </a:pPr>
            <a:r>
              <a:rPr b="1" i="0" lang="en-US" sz="1390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13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28625" y="1714500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71500" y="1721650"/>
            <a:ext cx="718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734"/>
              <a:buFont typeface="Calibri"/>
              <a:buNone/>
            </a:pPr>
            <a:r>
              <a:rPr b="1" i="0" lang="en-US" sz="1034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150 samples</a:t>
            </a:r>
            <a:endParaRPr b="0" i="0" sz="10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290311" y="1737706"/>
            <a:ext cx="712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of Iris flowers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28625" y="1932384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71500" y="1939528"/>
            <a:ext cx="77744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Benchmark for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227741" y="1947541"/>
            <a:ext cx="679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28625" y="2150269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71500" y="2157413"/>
            <a:ext cx="135114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Clean, well-structured data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28625" y="2368153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71500" y="2375297"/>
            <a:ext cx="185971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Ideal for demonstrating ML concepts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28625" y="2586038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71500" y="2593181"/>
            <a:ext cx="119147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Widely used in research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28625" y="3018234"/>
            <a:ext cx="403621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431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Target Classes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28625" y="3396853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71500" y="3403997"/>
            <a:ext cx="54381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Iris Setosa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28625" y="3614738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71500" y="3621881"/>
            <a:ext cx="718924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Iris Versicolor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28625" y="383262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71500" y="3839766"/>
            <a:ext cx="65624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Iris Virginica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679156" y="1335881"/>
            <a:ext cx="403621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431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679156" y="1714500"/>
            <a:ext cx="4036219" cy="311451"/>
          </a:xfrm>
          <a:prstGeom prst="rect">
            <a:avLst/>
          </a:prstGeom>
          <a:solidFill>
            <a:srgbClr val="7FA65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679156" y="1714500"/>
            <a:ext cx="21431" cy="311451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679156" y="1714500"/>
            <a:ext cx="4036219" cy="311451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36000" spcFirstLastPara="1" rIns="136000" wrap="square" tIns="10210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Sepal Length</a:t>
            </a: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– Outer structure length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679156" y="2168826"/>
            <a:ext cx="4036219" cy="311451"/>
          </a:xfrm>
          <a:prstGeom prst="rect">
            <a:avLst/>
          </a:prstGeom>
          <a:solidFill>
            <a:srgbClr val="7FA65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679156" y="2168826"/>
            <a:ext cx="21431" cy="311451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679156" y="2168826"/>
            <a:ext cx="4036219" cy="311451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36000" spcFirstLastPara="1" rIns="136000" wrap="square" tIns="10210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Sepal Width</a:t>
            </a: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– Outer structure width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679156" y="2623152"/>
            <a:ext cx="4036219" cy="311451"/>
          </a:xfrm>
          <a:prstGeom prst="rect">
            <a:avLst/>
          </a:prstGeom>
          <a:solidFill>
            <a:srgbClr val="7FA65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679156" y="2623152"/>
            <a:ext cx="21431" cy="311451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679156" y="2623152"/>
            <a:ext cx="4036219" cy="311451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36000" spcFirstLastPara="1" rIns="136000" wrap="square" tIns="10210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Petal Length</a:t>
            </a: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– Inner petal length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679156" y="3077477"/>
            <a:ext cx="4036219" cy="311451"/>
          </a:xfrm>
          <a:prstGeom prst="rect">
            <a:avLst/>
          </a:prstGeom>
          <a:solidFill>
            <a:srgbClr val="7FA65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679156" y="3077477"/>
            <a:ext cx="21431" cy="311451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679156" y="3077477"/>
            <a:ext cx="4036219" cy="311451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36000" spcFirstLastPara="1" rIns="136000" wrap="square" tIns="10210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Petal Width</a:t>
            </a: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– Inner petal width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28625" y="4479131"/>
            <a:ext cx="8286750" cy="37861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28625" y="4479131"/>
            <a:ext cx="8286750" cy="7144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28625" y="4850606"/>
            <a:ext cx="8286750" cy="7144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28625" y="4479131"/>
            <a:ext cx="8286750" cy="3786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70050" spcFirstLastPara="1" rIns="170050" wrap="square" tIns="127500">
            <a:spAutoFit/>
          </a:bodyPr>
          <a:lstStyle/>
          <a:p>
            <a:pPr indent="0" lvl="0" marL="0" marR="0" rtl="0" algn="ctr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1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Iris dataset provides a simple yet powerful problem for demonstrating classification algorithms without complex data preprocessing.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428625" y="285750"/>
            <a:ext cx="828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308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Visualizing Feature Distributions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28625" y="835819"/>
            <a:ext cx="828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Reveals Class Separability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781" y="1743075"/>
            <a:ext cx="300037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3893344" y="1385888"/>
            <a:ext cx="4822031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431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Key Observations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893344" y="1764506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036219" y="1771650"/>
            <a:ext cx="111068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Petal Length &amp; Width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146904" y="1771650"/>
            <a:ext cx="198989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show clear separation between species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893344" y="1996678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036219" y="2003822"/>
            <a:ext cx="34602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Setosa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382244" y="2003822"/>
            <a:ext cx="205248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is completely distinct from other species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893344" y="2228850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036219" y="2235994"/>
            <a:ext cx="218118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Versicolor and Virginica show some overlap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893344" y="246102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036219" y="2468166"/>
            <a:ext cx="1266174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Feature distributions are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302393" y="2468166"/>
            <a:ext cx="87343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highly predictive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893344" y="2943225"/>
            <a:ext cx="4822031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431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Most Important Features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893344" y="3321844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036219" y="3328988"/>
            <a:ext cx="68141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Petal Length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717638" y="3328988"/>
            <a:ext cx="102741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– Best discriminator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893344" y="3554016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036219" y="3561159"/>
            <a:ext cx="623460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Petal Width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659678" y="3561159"/>
            <a:ext cx="961532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– Strong separator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893344" y="3786188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036219" y="3793331"/>
            <a:ext cx="200853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Sepal measurements less discriminative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893344" y="4211241"/>
            <a:ext cx="4822031" cy="471488"/>
          </a:xfrm>
          <a:prstGeom prst="rect">
            <a:avLst/>
          </a:prstGeom>
          <a:solidFill>
            <a:srgbClr val="7FA65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893344" y="4211241"/>
            <a:ext cx="21431" cy="471488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3893344" y="4211241"/>
            <a:ext cx="4822031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36000" spcFirstLastPara="1" rIns="136000" wrap="square" tIns="10210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Implication:</a:t>
            </a: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A linear classifier like Logistic Regression has excellent potential to succeed on this problem due to the clear class separability in the feature space.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428625" y="285750"/>
            <a:ext cx="828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308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Initializing the PySpark ML Workflow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28625" y="1035844"/>
            <a:ext cx="382698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SparkSession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28625" y="1393031"/>
            <a:ext cx="38269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734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SparkSession</a:t>
            </a: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is the entry point for all Spark functionality. It provides access to distributed computing capabilities.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28625" y="1907381"/>
            <a:ext cx="382698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Gateway to Spark operations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28625" y="2200275"/>
            <a:ext cx="382698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Manages cluster resources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28625" y="2493169"/>
            <a:ext cx="382698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Enables distributed processing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28625" y="2914650"/>
            <a:ext cx="382698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Data Conversion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28625" y="3271838"/>
            <a:ext cx="38269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Convert Pandas DataFrame to </a:t>
            </a:r>
            <a:r>
              <a:rPr b="1" i="0" lang="en-US" sz="734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Spark DataFrame</a:t>
            </a: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for distributed ML operations.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28625" y="3786188"/>
            <a:ext cx="382698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Required for PySpark ML models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28625" y="4079081"/>
            <a:ext cx="382698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Enables parallel processing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28625" y="4371975"/>
            <a:ext cx="382698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Scalable to large datasets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28625" y="1907381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28625" y="2200275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28625" y="2493169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28625" y="3786188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28625" y="4079081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28625" y="4371975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505641" y="1121569"/>
            <a:ext cx="4209734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50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Create SparkSession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505641" y="1389459"/>
            <a:ext cx="4209734" cy="507206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505641" y="1389459"/>
            <a:ext cx="21431" cy="507206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505641" y="1389459"/>
            <a:ext cx="4209734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0" lIns="136000" spcFirstLastPara="1" rIns="136000" wrap="square" tIns="13600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8F5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F5E9"/>
                </a:solidFill>
                <a:latin typeface="Calibri"/>
                <a:ea typeface="Calibri"/>
                <a:cs typeface="Calibri"/>
                <a:sym typeface="Calibri"/>
              </a:rPr>
              <a:t>spark = SparkSession.builder \ .appName("IrisClassification") \ .config("spark.sql.adaptive.enabled", "true") \ .getOrCreate()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05641" y="2153841"/>
            <a:ext cx="4209734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50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Convert to Spark DataFrame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05641" y="2421731"/>
            <a:ext cx="4209734" cy="367903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505641" y="2421731"/>
            <a:ext cx="21431" cy="367903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505641" y="2421731"/>
            <a:ext cx="4209734" cy="367903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0" lIns="136000" spcFirstLastPara="1" rIns="136000" wrap="square" tIns="13600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8F5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F5E9"/>
                </a:solidFill>
                <a:latin typeface="Calibri"/>
                <a:ea typeface="Calibri"/>
                <a:cs typeface="Calibri"/>
                <a:sym typeface="Calibri"/>
              </a:rPr>
              <a:t>iris_spark_df = spark.createDataFrame( iris_pd.drop('species', axis=1) 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505641" y="3046809"/>
            <a:ext cx="4209734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50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Key Configuration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505641" y="3314700"/>
            <a:ext cx="4209734" cy="507206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505641" y="3314700"/>
            <a:ext cx="21431" cy="507206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505641" y="3314700"/>
            <a:ext cx="4209734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0" lIns="136000" spcFirstLastPara="1" rIns="136000" wrap="square" tIns="13600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E8F5E9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E8F5E9"/>
                </a:solidFill>
                <a:latin typeface="Calibri"/>
                <a:ea typeface="Calibri"/>
                <a:cs typeface="Calibri"/>
                <a:sym typeface="Calibri"/>
              </a:rPr>
              <a:t>• appName: Identifies the application • config: Sets Spark parameters • getOrCreate(): Gets or creates session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428625" y="285750"/>
            <a:ext cx="828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308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Preparing Data for PySpark ML with RFormula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28625" y="1035844"/>
            <a:ext cx="8286750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431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Train-Test Split Strategy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28625" y="1357313"/>
            <a:ext cx="8286750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dataset is divided into training and testing sets to evaluate model performance on unseen data.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28625" y="1625203"/>
            <a:ext cx="4071938" cy="932259"/>
          </a:xfrm>
          <a:prstGeom prst="rect">
            <a:avLst/>
          </a:prstGeom>
          <a:solidFill>
            <a:srgbClr val="7FA65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28625" y="1625203"/>
            <a:ext cx="28575" cy="932259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42925" y="1739503"/>
            <a:ext cx="3843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2925" y="2118122"/>
            <a:ext cx="384333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Training Data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42925" y="2303859"/>
            <a:ext cx="384333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121 samples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643438" y="1625203"/>
            <a:ext cx="4071938" cy="932259"/>
          </a:xfrm>
          <a:prstGeom prst="rect">
            <a:avLst/>
          </a:prstGeom>
          <a:solidFill>
            <a:srgbClr val="7FA65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643438" y="1625203"/>
            <a:ext cx="28575" cy="932259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4757738" y="1739503"/>
            <a:ext cx="3843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757738" y="2118122"/>
            <a:ext cx="384333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Testing Data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757738" y="2303859"/>
            <a:ext cx="384333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29 samples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28625" y="2700338"/>
            <a:ext cx="8286750" cy="348593"/>
          </a:xfrm>
          <a:prstGeom prst="rect">
            <a:avLst/>
          </a:prstGeom>
          <a:solidFill>
            <a:srgbClr val="3C3C3C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28625" y="2700338"/>
            <a:ext cx="28575" cy="348593"/>
          </a:xfrm>
          <a:prstGeom prst="rect">
            <a:avLst/>
          </a:prstGeom>
          <a:solidFill>
            <a:srgbClr val="8B47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28625" y="2700338"/>
            <a:ext cx="8286750" cy="348593"/>
          </a:xfrm>
          <a:prstGeom prst="rect">
            <a:avLst/>
          </a:prstGeom>
          <a:noFill/>
          <a:ln>
            <a:noFill/>
          </a:ln>
        </p:spPr>
        <p:txBody>
          <a:bodyPr anchorCtr="0" anchor="t" bIns="119125" lIns="136000" spcFirstLastPara="1" rIns="136000" wrap="square" tIns="119125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train_data, test_data = iris_spark_df.randomSplit([0.8, 0.2], seed=42)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28625" y="3316486"/>
            <a:ext cx="8286750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431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Feature Vectorization with RFormula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28625" y="3637955"/>
            <a:ext cx="8286750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PySpark ML models require features to be combined into a single vector column. </a:t>
            </a:r>
            <a:r>
              <a:rPr b="1" i="0" lang="en-US" sz="734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RFormula</a:t>
            </a:r>
            <a:r>
              <a:rPr b="0" i="0" lang="en-US" sz="7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handles this automatically: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28625" y="3884414"/>
            <a:ext cx="8286750" cy="348593"/>
          </a:xfrm>
          <a:prstGeom prst="rect">
            <a:avLst/>
          </a:prstGeom>
          <a:solidFill>
            <a:srgbClr val="3C3C3C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28625" y="3884414"/>
            <a:ext cx="28575" cy="348593"/>
          </a:xfrm>
          <a:prstGeom prst="rect">
            <a:avLst/>
          </a:prstGeom>
          <a:solidFill>
            <a:srgbClr val="8B47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28625" y="3884414"/>
            <a:ext cx="8286750" cy="348593"/>
          </a:xfrm>
          <a:prstGeom prst="rect">
            <a:avLst/>
          </a:prstGeom>
          <a:noFill/>
          <a:ln>
            <a:noFill/>
          </a:ln>
        </p:spPr>
        <p:txBody>
          <a:bodyPr anchorCtr="0" anchor="t" bIns="119125" lIns="136000" spcFirstLastPara="1" rIns="136000" wrap="square" tIns="119125">
            <a:sp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r_formula = RFormula(formula="label ~ .", featuresCol="features", labelCol="label")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28625" y="4318732"/>
            <a:ext cx="8286750" cy="357188"/>
          </a:xfrm>
          <a:prstGeom prst="rect">
            <a:avLst/>
          </a:prstGeom>
          <a:solidFill>
            <a:srgbClr val="7FA650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28625" y="4318732"/>
            <a:ext cx="8286750" cy="7144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28625" y="4668775"/>
            <a:ext cx="8286750" cy="7144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42925" y="4411600"/>
            <a:ext cx="826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11305" y="4411600"/>
            <a:ext cx="788977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Formula syntax:label ~ .</a:t>
            </a: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means predict "label" using all available features (the dot represents all columns except the target)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9" name="Google Shape;1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0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428625" y="285750"/>
            <a:ext cx="82867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217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226"/>
              <a:buFont typeface="Calibri"/>
              <a:buNone/>
            </a:pPr>
            <a:r>
              <a:rPr b="1" i="0" lang="en-US" sz="2226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Building the Classification Pipeline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28625" y="792956"/>
            <a:ext cx="828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with Logistic Regression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28625" y="1328738"/>
            <a:ext cx="3844007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28625" y="1664494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57213" y="1671638"/>
            <a:ext cx="93982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497034" y="1671638"/>
            <a:ext cx="131528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for multi-class classification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28625" y="1864519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57213" y="1871663"/>
            <a:ext cx="140067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Simple yet effective algorithm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28625" y="2064544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57213" y="2071688"/>
            <a:ext cx="116275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Efficient for this problem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28625" y="2421731"/>
            <a:ext cx="3844007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Hyperparameters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28625" y="2757488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57213" y="2764631"/>
            <a:ext cx="61969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maxIter=100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176905" y="2764631"/>
            <a:ext cx="104823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– Maximum iterations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28625" y="2957513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57213" y="2964656"/>
            <a:ext cx="73720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regParam=0.01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294414" y="2964656"/>
            <a:ext cx="13030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– Regularization parameter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28625" y="3157538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57213" y="3164681"/>
            <a:ext cx="92182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Prevents overfitting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28625" y="3357563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57213" y="3364706"/>
            <a:ext cx="125317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Maintains model simplicity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28625" y="3714750"/>
            <a:ext cx="3844007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Pipeline Benefits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28625" y="4050506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57213" y="4057650"/>
            <a:ext cx="118497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Chains steps sequentially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28625" y="4250531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57213" y="4257675"/>
            <a:ext cx="10769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Ensures reproducibility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28625" y="4450556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57213" y="4457700"/>
            <a:ext cx="10404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Simplifies deployment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28625" y="4650581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57213" y="4657725"/>
            <a:ext cx="117924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Easy to reuse and modify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" name="Google Shape;20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6660" y="1257300"/>
            <a:ext cx="3429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/>
          <p:nvPr/>
        </p:nvSpPr>
        <p:spPr>
          <a:xfrm>
            <a:off x="428625" y="4993481"/>
            <a:ext cx="8286750" cy="770744"/>
          </a:xfrm>
          <a:prstGeom prst="rect">
            <a:avLst/>
          </a:prstGeom>
          <a:solidFill>
            <a:srgbClr val="7FA650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28625" y="4993481"/>
            <a:ext cx="8286750" cy="7144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28625" y="5757081"/>
            <a:ext cx="8286750" cy="7144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28625" y="4993481"/>
            <a:ext cx="21431" cy="770744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42925" y="5093494"/>
            <a:ext cx="8058150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50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Pipeline Construction Code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42925" y="5289947"/>
            <a:ext cx="8058150" cy="35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r_formula = RFormula(formula="label ~ .", featuresCol="features", labelCol="label")</a:t>
            </a:r>
            <a:br>
              <a:rPr b="0" i="0" lang="en-US" sz="621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 lr = LogisticRegression(maxIter=100, regParam=0.01)</a:t>
            </a:r>
            <a:br>
              <a:rPr b="0" i="0" lang="en-US" sz="621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 pipeline = Pipeline(stages=[r_formula, lr])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2" name="Google Shape;2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428625" y="285750"/>
            <a:ext cx="828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308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Training the Model and Generating Predictions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28625" y="1035844"/>
            <a:ext cx="403621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431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28625" y="1414463"/>
            <a:ext cx="403621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pipeline is executed on the training data, which automatically performs feature preparation and trains the Logistic Regression model.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28625" y="1885950"/>
            <a:ext cx="4036219" cy="445759"/>
          </a:xfrm>
          <a:prstGeom prst="rect">
            <a:avLst/>
          </a:prstGeom>
          <a:solidFill>
            <a:srgbClr val="7FA650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28625" y="1885950"/>
            <a:ext cx="21431" cy="445759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428625" y="1885950"/>
            <a:ext cx="4036219" cy="445759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19125" spcFirstLastPara="1" rIns="119125" wrap="square" tIns="102100">
            <a:sp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621"/>
              <a:buFont typeface="Calibri"/>
              <a:buNone/>
            </a:pPr>
            <a:r>
              <a:rPr b="0" i="1" lang="en-US" sz="621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# Train the model</a:t>
            </a:r>
            <a:br>
              <a:rPr b="0" i="0" lang="en-US" sz="621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model = pipeline.fit(train_data)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28625" y="2603171"/>
            <a:ext cx="403621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fit()</a:t>
            </a: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method: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28625" y="3010365"/>
            <a:ext cx="4036219" cy="421481"/>
          </a:xfrm>
          <a:prstGeom prst="rect">
            <a:avLst/>
          </a:prstGeom>
          <a:solidFill>
            <a:srgbClr val="8B4789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428625" y="3010365"/>
            <a:ext cx="21431" cy="421481"/>
          </a:xfrm>
          <a:prstGeom prst="rect">
            <a:avLst/>
          </a:prstGeom>
          <a:solidFill>
            <a:srgbClr val="8B47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428625" y="3010365"/>
            <a:ext cx="4036219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02100" spcFirstLastPara="1" rIns="102100" wrap="square" tIns="85075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• Executes RFormula to vectorize features • Trains Logistic Regression on vectorized data • Returns a trained model object • Captures learned coefficients and intercepts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679156" y="1035844"/>
            <a:ext cx="403621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431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Making Predictions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679156" y="1414463"/>
            <a:ext cx="403621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trained model transforms test data, adding prediction columns to the DataFrame.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679156" y="1735931"/>
            <a:ext cx="4036219" cy="582913"/>
          </a:xfrm>
          <a:prstGeom prst="rect">
            <a:avLst/>
          </a:prstGeom>
          <a:solidFill>
            <a:srgbClr val="7FA650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679156" y="1735931"/>
            <a:ext cx="21431" cy="582913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679156" y="1735931"/>
            <a:ext cx="4036219" cy="582913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19125" spcFirstLastPara="1" rIns="119125" wrap="square" tIns="102100">
            <a:sp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621"/>
              <a:buFont typeface="Calibri"/>
              <a:buNone/>
            </a:pPr>
            <a:r>
              <a:rPr b="0" i="1" lang="en-US" sz="621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# Make predictions</a:t>
            </a:r>
            <a:br>
              <a:rPr b="0" i="0" lang="en-US" sz="621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predictions = model.transform(</a:t>
            </a:r>
            <a:br>
              <a:rPr b="0" i="0" lang="en-US" sz="621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  test_data)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679156" y="2590307"/>
            <a:ext cx="403621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transform()</a:t>
            </a: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method adds: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679156" y="2997501"/>
            <a:ext cx="4036219" cy="421481"/>
          </a:xfrm>
          <a:prstGeom prst="rect">
            <a:avLst/>
          </a:prstGeom>
          <a:solidFill>
            <a:srgbClr val="8B4789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679156" y="2997501"/>
            <a:ext cx="21431" cy="421481"/>
          </a:xfrm>
          <a:prstGeom prst="rect">
            <a:avLst/>
          </a:prstGeom>
          <a:solidFill>
            <a:srgbClr val="8B47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4679156" y="2997501"/>
            <a:ext cx="4036219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02100" spcFirstLastPara="1" rIns="102100" wrap="square" tIns="85075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-US" sz="63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b="0" i="0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– Vectorized input features • </a:t>
            </a:r>
            <a:r>
              <a:rPr b="1" i="0" lang="en-US" sz="63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rawPrediction</a:t>
            </a:r>
            <a:r>
              <a:rPr b="0" i="0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– Raw model output • </a:t>
            </a:r>
            <a:r>
              <a:rPr b="1" i="0" lang="en-US" sz="63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probability</a:t>
            </a:r>
            <a:r>
              <a:rPr b="0" i="0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– Class probabilities • </a:t>
            </a:r>
            <a:r>
              <a:rPr b="1" i="0" lang="en-US" sz="63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r>
              <a:rPr b="0" i="0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– Final predicted class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7" name="Google Shape;2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62213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428625" y="285750"/>
            <a:ext cx="82867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217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226"/>
              <a:buFont typeface="Calibri"/>
              <a:buNone/>
            </a:pPr>
            <a:r>
              <a:rPr b="1" i="0" lang="en-US" sz="2226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Evaluating Performance with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28625" y="792956"/>
            <a:ext cx="828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Multiclass Classification Evaluator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63" y="1662122"/>
            <a:ext cx="2857500" cy="190498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/>
          <p:nvPr/>
        </p:nvSpPr>
        <p:spPr>
          <a:xfrm>
            <a:off x="3679031" y="1293019"/>
            <a:ext cx="5036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Evaluation Metric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679031" y="1650206"/>
            <a:ext cx="5036344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For multi-class classification problems like Iris species identification, </a:t>
            </a: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is a standard and intuitive metric that measures the proportion of correct predictions.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679031" y="2135981"/>
            <a:ext cx="5036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PySpark Evaluator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679031" y="2493169"/>
            <a:ext cx="5036344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MulticlassClassificationEvaluator</a:t>
            </a: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compares predicted labels against true labels: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3679031" y="2814638"/>
            <a:ext cx="5036344" cy="471488"/>
          </a:xfrm>
          <a:prstGeom prst="rect">
            <a:avLst/>
          </a:prstGeom>
          <a:solidFill>
            <a:srgbClr val="7FA65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3679031" y="2814638"/>
            <a:ext cx="21431" cy="471488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3779044" y="2900363"/>
            <a:ext cx="4836319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501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Accuracy Calculation: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779044" y="3066455"/>
            <a:ext cx="242343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Correct Predictions / Total Predictions = 27 / 29 = 0.9310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679031" y="3543300"/>
            <a:ext cx="5036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Performance Summary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679031" y="3900488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3807619" y="3907631"/>
            <a:ext cx="77799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Accuracy: 93.1%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585618" y="3907631"/>
            <a:ext cx="115617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– Excellent performance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679031" y="4100513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807619" y="4107656"/>
            <a:ext cx="208416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27 correct predictions out of 29 test samples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679031" y="4300538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807619" y="4307681"/>
            <a:ext cx="114115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Only 2 misclassifications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679031" y="4500563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3807619" y="4507706"/>
            <a:ext cx="174123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Strong generalization to unseen data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3679031" y="4886325"/>
            <a:ext cx="5036344" cy="450056"/>
          </a:xfrm>
          <a:prstGeom prst="rect">
            <a:avLst/>
          </a:prstGeom>
          <a:solidFill>
            <a:srgbClr val="8B4789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3679031" y="4886325"/>
            <a:ext cx="21431" cy="450056"/>
          </a:xfrm>
          <a:prstGeom prst="rect">
            <a:avLst/>
          </a:prstGeom>
          <a:solidFill>
            <a:srgbClr val="8B47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3679031" y="4886325"/>
            <a:ext cx="5036344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19125" spcFirstLastPara="1" rIns="119125" wrap="square" tIns="10210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34"/>
              <a:buFont typeface="Calibri"/>
              <a:buNone/>
            </a:pPr>
            <a:r>
              <a:rPr b="1" i="1" lang="en-US" sz="63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Key Finding:</a:t>
            </a:r>
            <a:r>
              <a:rPr b="0" i="1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The high accuracy demonstrates that Logistic Regression is highly effective at classifying Iris species based on the four measured features. The model generalizes well beyond the training data.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7" name="Google Shape;2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25934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/>
          <p:nvPr/>
        </p:nvSpPr>
        <p:spPr>
          <a:xfrm>
            <a:off x="428625" y="285750"/>
            <a:ext cx="828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308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Summary of Findings and Future Work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428625" y="1035844"/>
            <a:ext cx="8286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Experiment Summary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28625" y="1321594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71500" y="1328738"/>
            <a:ext cx="132667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Successfully implemented 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898173" y="1328738"/>
            <a:ext cx="146949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complete PySpark ML pipeline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367664" y="1328738"/>
            <a:ext cx="96323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for Iris classification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28625" y="1528763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71500" y="1535906"/>
            <a:ext cx="44866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020161" y="1535906"/>
            <a:ext cx="74180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93.1% accuracy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761967" y="1535906"/>
            <a:ext cx="19122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on the test set using Logistic Regression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28625" y="1735931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71500" y="1743075"/>
            <a:ext cx="198847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Demonstrated the power and structure of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2559974" y="1743075"/>
            <a:ext cx="118215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PySpark ML frameworks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28625" y="1943100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71500" y="1950244"/>
            <a:ext cx="67949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Validated that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1250993" y="1950244"/>
            <a:ext cx="101424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simple linear models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2265238" y="1950244"/>
            <a:ext cx="218858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can be highly effective for well-separated data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28625" y="2350294"/>
            <a:ext cx="8286750" cy="765804"/>
          </a:xfrm>
          <a:prstGeom prst="rect">
            <a:avLst/>
          </a:prstGeom>
          <a:solidFill>
            <a:srgbClr val="7FA65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428625" y="2350294"/>
            <a:ext cx="8286750" cy="7144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428625" y="3108954"/>
            <a:ext cx="8286750" cy="7144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428625" y="2350294"/>
            <a:ext cx="28575" cy="765804"/>
          </a:xfrm>
          <a:prstGeom prst="rect">
            <a:avLst/>
          </a:prstGeom>
          <a:solidFill>
            <a:srgbClr val="7FA6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557213" y="2464594"/>
            <a:ext cx="8029575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57213" y="2657112"/>
            <a:ext cx="788156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735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PySpark ML provides a scalable, structured, and reproducible framework for machine learning workflows that seamlessly transitions from development to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57213" y="2828562"/>
            <a:ext cx="133549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735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production environments.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28625" y="3301836"/>
            <a:ext cx="8286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7FA65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7FA650"/>
                </a:solidFill>
                <a:latin typeface="Calibri"/>
                <a:ea typeface="Calibri"/>
                <a:cs typeface="Calibri"/>
                <a:sym typeface="Calibri"/>
              </a:rPr>
              <a:t>Future Work and Improvements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28625" y="3587586"/>
            <a:ext cx="8286750" cy="482203"/>
          </a:xfrm>
          <a:prstGeom prst="rect">
            <a:avLst/>
          </a:prstGeom>
          <a:solidFill>
            <a:srgbClr val="8B4789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428625" y="3587586"/>
            <a:ext cx="21431" cy="482203"/>
          </a:xfrm>
          <a:prstGeom prst="rect">
            <a:avLst/>
          </a:prstGeom>
          <a:solidFill>
            <a:srgbClr val="8B47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528638" y="3673311"/>
            <a:ext cx="80867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Hyperparameter Tuning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528638" y="3844761"/>
            <a:ext cx="8086725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Use cross-validation and grid search to optimize model parameters and improve performance further.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28625" y="4198376"/>
            <a:ext cx="8286750" cy="482203"/>
          </a:xfrm>
          <a:prstGeom prst="rect">
            <a:avLst/>
          </a:prstGeom>
          <a:solidFill>
            <a:srgbClr val="8B4789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428625" y="4198376"/>
            <a:ext cx="21431" cy="482203"/>
          </a:xfrm>
          <a:prstGeom prst="rect">
            <a:avLst/>
          </a:prstGeom>
          <a:solidFill>
            <a:srgbClr val="8B47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528638" y="4284101"/>
            <a:ext cx="80867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Algorithm Comparison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28638" y="4455551"/>
            <a:ext cx="8086725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Explore other classifiers (Decision Trees, Random Forests, SVM) to compare performance and identify the best approach.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28625" y="4809167"/>
            <a:ext cx="8286750" cy="482203"/>
          </a:xfrm>
          <a:prstGeom prst="rect">
            <a:avLst/>
          </a:prstGeom>
          <a:solidFill>
            <a:srgbClr val="8B4789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428625" y="4809167"/>
            <a:ext cx="21431" cy="482203"/>
          </a:xfrm>
          <a:prstGeom prst="rect">
            <a:avLst/>
          </a:prstGeom>
          <a:solidFill>
            <a:srgbClr val="8B47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528638" y="4894892"/>
            <a:ext cx="80867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Model Deployment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528638" y="5066342"/>
            <a:ext cx="8086725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Deploy the trained model for real-time inference in production environments using Spark serving or REST APIs.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428625" y="5419958"/>
            <a:ext cx="8286750" cy="482203"/>
          </a:xfrm>
          <a:prstGeom prst="rect">
            <a:avLst/>
          </a:prstGeom>
          <a:solidFill>
            <a:srgbClr val="8B4789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428625" y="5419958"/>
            <a:ext cx="21431" cy="482203"/>
          </a:xfrm>
          <a:prstGeom prst="rect">
            <a:avLst/>
          </a:prstGeom>
          <a:solidFill>
            <a:srgbClr val="8B47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528638" y="5505683"/>
            <a:ext cx="80867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8B4789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B4789"/>
                </a:solidFill>
                <a:latin typeface="Calibri"/>
                <a:ea typeface="Calibri"/>
                <a:cs typeface="Calibri"/>
                <a:sym typeface="Calibri"/>
              </a:rPr>
              <a:t>Scalability Testing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28638" y="5677133"/>
            <a:ext cx="8086725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Test the pipeline on larger datasets to demonstrate Spark's distributed computing advantages.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4" name="Google Shape;3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3925" y="-13022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0"/>
          <p:cNvSpPr txBox="1"/>
          <p:nvPr/>
        </p:nvSpPr>
        <p:spPr>
          <a:xfrm>
            <a:off x="742225" y="2057400"/>
            <a:ext cx="80214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rgbClr val="7FA650"/>
                </a:solidFill>
              </a:rPr>
              <a:t>Thank You</a:t>
            </a:r>
            <a:endParaRPr sz="5200">
              <a:solidFill>
                <a:srgbClr val="7FA6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2025-11-11T11:01:52Z</dcterms:created>
  <dc:creator>PptxGenJS</dc:creator>
</cp:coreProperties>
</file>